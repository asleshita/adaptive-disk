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8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OPS  •  OFFLINE SUBMISSION TEMPLATE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Pic1" Type="http://schemas.openxmlformats.org/officeDocument/2006/relationships/image" Target="../media/prototype_s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-1143000"/>
            <a:ext cx="3977640" cy="3977640"/>
          </a:xfrm>
          <a:prstGeom prst="ellipse">
            <a:avLst/>
          </a:prstGeom>
          <a:solidFill>
            <a:srgbClr val="FDC44E">
              <a:alpha val="94000"/>
            </a:srgbClr>
          </a:solidFill>
          <a:ln w="12700">
            <a:solidFill>
              <a:srgbClr val="FDC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-411480"/>
            <a:ext cx="2514600" cy="2514600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2286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110" dirty="0">
                <a:solidFill>
                  <a:srgbClr val="F79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 OPS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Operating System Hackathon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859536" y="2660904"/>
            <a:ext cx="73152" cy="2459736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5176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DETAILS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4416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Team Name: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Freaks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Durga Vaishnavi Ch (Team Leader) - RA2511003011632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Bhuvana Royal - RA2511003011610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Asleshita Tuduku - RA2511003011633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Theme: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 management and disk scheduling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3328" y="2450592"/>
            <a:ext cx="5468112" cy="2880360"/>
          </a:xfrm>
          <a:prstGeom prst="roundRect">
            <a:avLst>
              <a:gd name="adj" fmla="val 190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660904"/>
            <a:ext cx="73152" cy="245973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517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4809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PS Number: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OSH022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Title: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Disk Request Scheduler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sequential, random and mixed disk workloads, compare FCFS, SSTF, SCAN and C-SCAN, and build an adaptive policy that shows head movement, waiting time and starvation.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510636"/>
            <a:ext cx="3566160" cy="2768991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11805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077565"/>
            <a:ext cx="2907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disk I/O scheduler that watches its own request queue and changes policy as the workload changes: nearest request first when the queue is short, an elevator sweep when it is busy, and a rescue for any request that has waited too long.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1510637"/>
            <a:ext cx="3566160" cy="276899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7136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11805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077565"/>
            <a:ext cx="2907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system's block I/O layer on machines with hard disks: desktops, file servers and databases. Every process that reads or writes the disk gets shorter and fairer waits.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Prototype: an offline browser simulator plus a C++ engine.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1510637"/>
            <a:ext cx="3566160" cy="276899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8321040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711805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8784" y="2077565"/>
            <a:ext cx="290779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Generates sequential, random and mixed workloads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Runs FCFS, SSTF, SCAN, C-SCAN, LOOK, C-LOOK on the same requests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Adaptive policy with a starvation guard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Shows head movement, waiting time and starvation live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9016" y="4477747"/>
            <a:ext cx="11173968" cy="1484141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882" y="465640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" y="4779499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scheduler that adapts to its queue: SSTF's speed without SSTF's starvation.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" y="1688123"/>
            <a:ext cx="10881360" cy="43727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26" name="Scheduler band"/>
          <p:cNvSpPr/>
          <p:nvPr/>
        </p:nvSpPr>
        <p:spPr>
          <a:xfrm>
            <a:off x="3429000" y="1938528"/>
            <a:ext cx="5084064" cy="1627632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 w="15875">
            <a:solidFill>
              <a:srgbClr val="FDC44E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endParaRPr lang="en-US"/>
          </a:p>
        </p:txBody>
      </p:sp>
      <p:sp>
        <p:nvSpPr>
          <p:cNvPr id="527" name="Diagram box 527"/>
          <p:cNvSpPr/>
          <p:nvPr/>
        </p:nvSpPr>
        <p:spPr>
          <a:xfrm>
            <a:off x="3566160" y="1993392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dirty="0">
                <a:solidFill>
                  <a:srgbClr val="F7941D"/>
                </a:solidFill>
                <a:latin typeface="Aptos"/>
                <a:cs typeface="Aptos"/>
              </a:rPr>
              <a:t>ADAPTIVE I/O SCHEDULER (runs before every dispatch)</a:t>
            </a:r>
          </a:p>
        </p:txBody>
      </p:sp>
      <p:sp>
        <p:nvSpPr>
          <p:cNvPr id="528" name="Diagram box 528"/>
          <p:cNvSpPr/>
          <p:nvPr/>
        </p:nvSpPr>
        <p:spPr>
          <a:xfrm>
            <a:off x="3584448" y="2350008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323232"/>
                </a:solidFill>
                <a:latin typeface="Aptos"/>
                <a:cs typeface="Aptos"/>
              </a:rPr>
              <a:t>Monitor</a:t>
            </a:r>
          </a:p>
          <a:p>
            <a:pPr algn="ctr"/>
            <a:r>
              <a:rPr lang="en-US" sz="850" b="0" dirty="0">
                <a:solidFill>
                  <a:srgbClr val="6E6E6E"/>
                </a:solidFill>
                <a:latin typeface="Aptos"/>
                <a:cs typeface="Aptos"/>
              </a:rPr>
              <a:t>avg queue, clustering, oldest wait</a:t>
            </a:r>
          </a:p>
        </p:txBody>
      </p:sp>
      <p:cxnSp>
        <p:nvCxnSpPr>
          <p:cNvPr id="529" name="Arrow 529"/>
          <p:cNvCxnSpPr/>
          <p:nvPr/>
        </p:nvCxnSpPr>
        <p:spPr>
          <a:xfrm>
            <a:off x="5065776" y="2770632"/>
            <a:ext cx="164592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30" name="Diagram box 530"/>
          <p:cNvSpPr/>
          <p:nvPr/>
        </p:nvSpPr>
        <p:spPr>
          <a:xfrm>
            <a:off x="5230368" y="2350008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7941D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323232"/>
                </a:solidFill>
                <a:latin typeface="Aptos"/>
                <a:cs typeface="Aptos"/>
              </a:rPr>
              <a:t>Guard + deadlines</a:t>
            </a:r>
          </a:p>
          <a:p>
            <a:pPr algn="ctr"/>
            <a:r>
              <a:rPr lang="en-US" sz="850" b="0" dirty="0">
                <a:solidFill>
                  <a:srgbClr val="6E6E6E"/>
                </a:solidFill>
                <a:latin typeface="Aptos"/>
                <a:cs typeface="Aptos"/>
              </a:rPr>
              <a:t>rescue (frozen batch), deadline jump if late</a:t>
            </a:r>
          </a:p>
        </p:txBody>
      </p:sp>
      <p:cxnSp>
        <p:nvCxnSpPr>
          <p:cNvPr id="531" name="Arrow 531"/>
          <p:cNvCxnSpPr/>
          <p:nvPr/>
        </p:nvCxnSpPr>
        <p:spPr>
          <a:xfrm>
            <a:off x="6711696" y="2770632"/>
            <a:ext cx="164592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32" name="Diagram box 532"/>
          <p:cNvSpPr/>
          <p:nvPr/>
        </p:nvSpPr>
        <p:spPr>
          <a:xfrm>
            <a:off x="6876288" y="2350008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323232"/>
                </a:solidFill>
                <a:latin typeface="Aptos"/>
                <a:cs typeface="Aptos"/>
              </a:rPr>
              <a:t>Policy selector</a:t>
            </a:r>
          </a:p>
          <a:p>
            <a:pPr algn="ctr"/>
            <a:r>
              <a:rPr lang="en-US" sz="850" b="0" dirty="0">
                <a:solidFill>
                  <a:srgbClr val="6E6E6E"/>
                </a:solidFill>
                <a:latin typeface="Aptos"/>
                <a:cs typeface="Aptos"/>
              </a:rPr>
              <a:t>SSTF / LOOK / cluster-SSTF</a:t>
            </a:r>
          </a:p>
        </p:txBody>
      </p:sp>
      <p:sp>
        <p:nvSpPr>
          <p:cNvPr id="533" name="Diagram box 533"/>
          <p:cNvSpPr/>
          <p:nvPr/>
        </p:nvSpPr>
        <p:spPr>
          <a:xfrm>
            <a:off x="3566160" y="3264408"/>
            <a:ext cx="4809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F7941D"/>
                </a:solidFill>
                <a:latin typeface="Aptos"/>
                <a:cs typeface="Aptos"/>
              </a:rPr>
              <a:t>Added after the challenges: deadline override, frozen rescue batch, queue cap</a:t>
            </a:r>
          </a:p>
        </p:txBody>
      </p:sp>
      <p:sp>
        <p:nvSpPr>
          <p:cNvPr id="534" name="Diagram box 534"/>
          <p:cNvSpPr/>
          <p:nvPr/>
        </p:nvSpPr>
        <p:spPr>
          <a:xfrm>
            <a:off x="914400" y="4160520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23232"/>
                </a:solidFill>
                <a:latin typeface="Aptos"/>
                <a:cs typeface="Aptos"/>
              </a:rPr>
              <a:t>Processes</a:t>
            </a:r>
          </a:p>
          <a:p>
            <a:pPr algn="ctr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workload generator: sequential, random, mixed</a:t>
            </a:r>
          </a:p>
        </p:txBody>
      </p:sp>
      <p:cxnSp>
        <p:nvCxnSpPr>
          <p:cNvPr id="535" name="Arrow 535"/>
          <p:cNvCxnSpPr/>
          <p:nvPr/>
        </p:nvCxnSpPr>
        <p:spPr>
          <a:xfrm>
            <a:off x="3154680" y="4672584"/>
            <a:ext cx="384048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36" name="Diagram box 536"/>
          <p:cNvSpPr/>
          <p:nvPr/>
        </p:nvSpPr>
        <p:spPr>
          <a:xfrm>
            <a:off x="3538728" y="4160520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23232"/>
                </a:solidFill>
                <a:latin typeface="Aptos"/>
                <a:cs typeface="Aptos"/>
              </a:rPr>
              <a:t>I/O request queue</a:t>
            </a:r>
          </a:p>
          <a:p>
            <a:pPr algn="ctr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pending requests: arrival, cylinder, cap 32 (defer / reject)</a:t>
            </a:r>
          </a:p>
        </p:txBody>
      </p:sp>
      <p:cxnSp>
        <p:nvCxnSpPr>
          <p:cNvPr id="537" name="Arrow 537"/>
          <p:cNvCxnSpPr/>
          <p:nvPr/>
        </p:nvCxnSpPr>
        <p:spPr>
          <a:xfrm>
            <a:off x="5779008" y="4672584"/>
            <a:ext cx="384048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38" name="Diagram box 538"/>
          <p:cNvSpPr/>
          <p:nvPr/>
        </p:nvSpPr>
        <p:spPr>
          <a:xfrm>
            <a:off x="6163056" y="4160520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7941D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23232"/>
                </a:solidFill>
                <a:latin typeface="Aptos"/>
                <a:cs typeface="Aptos"/>
              </a:rPr>
              <a:t>Dispatcher</a:t>
            </a:r>
          </a:p>
          <a:p>
            <a:pPr algn="ctr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moves the head, serves one request</a:t>
            </a:r>
          </a:p>
        </p:txBody>
      </p:sp>
      <p:cxnSp>
        <p:nvCxnSpPr>
          <p:cNvPr id="539" name="Arrow 539"/>
          <p:cNvCxnSpPr/>
          <p:nvPr/>
        </p:nvCxnSpPr>
        <p:spPr>
          <a:xfrm>
            <a:off x="8403336" y="4672584"/>
            <a:ext cx="384048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40" name="Diagram box 540"/>
          <p:cNvSpPr/>
          <p:nvPr/>
        </p:nvSpPr>
        <p:spPr>
          <a:xfrm>
            <a:off x="8787384" y="4160520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323232"/>
                </a:solidFill>
                <a:latin typeface="Aptos"/>
                <a:cs typeface="Aptos"/>
              </a:rPr>
              <a:t>Disk (simulated)</a:t>
            </a:r>
          </a:p>
          <a:p>
            <a:pPr algn="ctr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seek 0.8 ms + 0.0028 ms/cyl, 4.2 ms read</a:t>
            </a:r>
          </a:p>
        </p:txBody>
      </p:sp>
      <p:cxnSp>
        <p:nvCxnSpPr>
          <p:cNvPr id="541" name="Arrow 541"/>
          <p:cNvCxnSpPr/>
          <p:nvPr/>
        </p:nvCxnSpPr>
        <p:spPr>
          <a:xfrm flipV="1">
            <a:off x="4658868" y="3566160"/>
            <a:ext cx="0" cy="59436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42" name="Diagram box 542"/>
          <p:cNvSpPr/>
          <p:nvPr/>
        </p:nvSpPr>
        <p:spPr>
          <a:xfrm>
            <a:off x="4732020" y="36758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observes</a:t>
            </a:r>
          </a:p>
        </p:txBody>
      </p:sp>
      <p:cxnSp>
        <p:nvCxnSpPr>
          <p:cNvPr id="543" name="Arrow 543"/>
          <p:cNvCxnSpPr/>
          <p:nvPr/>
        </p:nvCxnSpPr>
        <p:spPr>
          <a:xfrm>
            <a:off x="7283196" y="3566160"/>
            <a:ext cx="0" cy="59436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44" name="Diagram box 544"/>
          <p:cNvSpPr/>
          <p:nvPr/>
        </p:nvSpPr>
        <p:spPr>
          <a:xfrm>
            <a:off x="7356348" y="36758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next request</a:t>
            </a:r>
          </a:p>
        </p:txBody>
      </p:sp>
      <p:cxnSp>
        <p:nvCxnSpPr>
          <p:cNvPr id="545" name="Arrow 545"/>
          <p:cNvCxnSpPr/>
          <p:nvPr/>
        </p:nvCxnSpPr>
        <p:spPr>
          <a:xfrm flipV="1">
            <a:off x="9907524" y="2578608"/>
            <a:ext cx="0" cy="1581912"/>
          </a:xfrm>
          <a:prstGeom prst="straightConnector1">
            <a:avLst/>
          </a:prstGeom>
          <a:ln w="19050">
            <a:solidFill>
              <a:srgbClr val="6E6E6E"/>
            </a:solidFill>
          </a:ln>
        </p:spPr>
      </p:cxnSp>
      <p:cxnSp>
        <p:nvCxnSpPr>
          <p:cNvPr id="546" name="Arrow 546"/>
          <p:cNvCxnSpPr/>
          <p:nvPr/>
        </p:nvCxnSpPr>
        <p:spPr>
          <a:xfrm flipH="1">
            <a:off x="8513064" y="2578608"/>
            <a:ext cx="1394460" cy="0"/>
          </a:xfrm>
          <a:prstGeom prst="straightConnector1">
            <a:avLst/>
          </a:prstGeom>
          <a:ln w="19050">
            <a:solidFill>
              <a:srgbClr val="6E6E6E"/>
            </a:solidFill>
            <a:tailEnd type="triangle" w="med" len="med"/>
          </a:ln>
        </p:spPr>
      </p:cxnSp>
      <p:sp>
        <p:nvSpPr>
          <p:cNvPr id="547" name="Diagram box 547"/>
          <p:cNvSpPr/>
          <p:nvPr/>
        </p:nvSpPr>
        <p:spPr>
          <a:xfrm>
            <a:off x="8622792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completion time (feedback)</a:t>
            </a:r>
          </a:p>
        </p:txBody>
      </p:sp>
      <p:sp>
        <p:nvSpPr>
          <p:cNvPr id="548" name="Diagram box 548"/>
          <p:cNvSpPr/>
          <p:nvPr/>
        </p:nvSpPr>
        <p:spPr>
          <a:xfrm>
            <a:off x="914400" y="2350008"/>
            <a:ext cx="22402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323232"/>
                </a:solidFill>
                <a:latin typeface="Aptos"/>
                <a:cs typeface="Aptos"/>
              </a:rPr>
              <a:t>Visualizer</a:t>
            </a:r>
          </a:p>
          <a:p>
            <a:pPr algn="ctr"/>
            <a:r>
              <a:rPr lang="en-US" sz="850" b="0" dirty="0">
                <a:solidFill>
                  <a:srgbClr val="6E6E6E"/>
                </a:solidFill>
                <a:latin typeface="Aptos"/>
                <a:cs typeface="Aptos"/>
              </a:rPr>
              <a:t>browser: disk animation, charts, trace</a:t>
            </a:r>
          </a:p>
        </p:txBody>
      </p:sp>
      <p:cxnSp>
        <p:nvCxnSpPr>
          <p:cNvPr id="549" name="Arrow 549"/>
          <p:cNvCxnSpPr/>
          <p:nvPr/>
        </p:nvCxnSpPr>
        <p:spPr>
          <a:xfrm>
            <a:off x="3154680" y="2770632"/>
            <a:ext cx="274320" cy="0"/>
          </a:xfrm>
          <a:prstGeom prst="straightConnector1">
            <a:avLst/>
          </a:prstGeom>
          <a:ln w="19050">
            <a:solidFill>
              <a:srgbClr val="6E6E6E"/>
            </a:solidFill>
            <a:prstDash val="dash"/>
            <a:tailEnd type="triangle" w="med" len="med"/>
          </a:ln>
        </p:spPr>
      </p:cxnSp>
      <p:sp>
        <p:nvSpPr>
          <p:cNvPr id="550" name="Diagram box 550"/>
          <p:cNvSpPr/>
          <p:nvPr/>
        </p:nvSpPr>
        <p:spPr>
          <a:xfrm>
            <a:off x="914400" y="321868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6E6E6E"/>
                </a:solidFill>
                <a:latin typeface="Aptos"/>
                <a:cs typeface="Aptos"/>
              </a:rPr>
              <a:t>reads metrics and events</a:t>
            </a:r>
          </a:p>
        </p:txBody>
      </p:sp>
      <p:sp>
        <p:nvSpPr>
          <p:cNvPr id="551" name="Diagram box 551"/>
          <p:cNvSpPr/>
          <p:nvPr/>
        </p:nvSpPr>
        <p:spPr>
          <a:xfrm>
            <a:off x="914400" y="5532120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dirty="0">
                <a:solidFill>
                  <a:srgbClr val="6E6E6E"/>
                </a:solidFill>
                <a:latin typeface="Aptos"/>
                <a:cs typeface="Aptos"/>
              </a:rPr>
              <a:t>Outputs: head movement, waiting time, fairness and an event trace for every algorithm (FCFS, SSTF, SCAN, C-SCAN, LOOK, C-LOOK, Adaptive). The same engine in C++ produces the benchmark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Concepts &amp; Justification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CONCEPT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44144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scheduling (FCFS, SSTF, SCAN, C-SCAN)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Where used: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dispatcher orders requests; Adaptive switches between SSTF and LOOK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Why necessary: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 time dominates disk I/O, so the order decides head movement and waiting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CONCEPT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44144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Starvation and aging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Where used: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starvation guard rescues any request waiting over max(80 ms, 4 x typical wait); frozen rescue batch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Why necessary: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SSTF can postpone a far request forever; aging puts a bound on every wait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CONCEPT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" y="45445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 queue management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Where used: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queue with a cap of 32 (defer or reject) and the monitor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Why necessary: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memory under overload; a 3-5 dead band stops the policy flip-flopping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44768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CONCEPT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5445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vs throughput and deadlines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Where used: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 limit set from measured response time; deadline jump only when a request would be late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Why necessary: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limit fires constantly under heavy load and never under light load; feedback adapts 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 &amp; Innovation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507353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17664"/>
            <a:ext cx="73152" cy="2209567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Workloads: sequential, random, mixed, stress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 schedulers including Adaptive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 two-drive disk simulation with sound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Step view, event trace, challenges C1 to C5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Expected demo: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SSTF starving a far request while Adaptive rescues it, side by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1507353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717664"/>
            <a:ext cx="73152" cy="2209567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402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Language(s):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C++17, JavaScript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Framework / UI: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HTML5 Canvas and SVG, no framework, runs offline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OS / APIs / Libraries: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STL, Web Audio API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Data / simulation tools: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simulator, seeded workloads, CSV results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 b="1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 xml:space="preserve">AI tools: </a:t>
            </a: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Claude, about 90% of code and documents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1507353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17665"/>
            <a:ext cx="73152" cy="220956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878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adaptive switching. Before every dispatch it checks starvation, load and clustering, and records why it chose that request.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rescue limit follows measured response time, and a dead band stops the policy from thrashing.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" y="4323704"/>
            <a:ext cx="5486400" cy="1877803"/>
          </a:xfrm>
          <a:prstGeom prst="roundRect">
            <a:avLst>
              <a:gd name="adj" fmla="val 4054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34017"/>
            <a:ext cx="73152" cy="152681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524873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CONSIDERED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90633"/>
            <a:ext cx="4828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LOOK policy: simple and starvation-free, but in our tests about 21% slower on average than Adaptive under starvation stress. A C-LOOK mode for heavy load was also tried and dropped: no gain in worst-case wait.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6208" y="4323704"/>
            <a:ext cx="5468112" cy="1900077"/>
          </a:xfrm>
          <a:prstGeom prst="roundRect">
            <a:avLst>
              <a:gd name="adj" fmla="val 4054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4534017"/>
            <a:ext cx="73152" cy="152681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524873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/ LIMITATIONS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890633"/>
            <a:ext cx="4809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Simulation, not a kernel module: one disk, one head, linear seek cost and a fixed rotation time. Thresholds were tuned on synthetic workloads. Not aimed at SSDs, which have no seek cost.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7941D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896112"/>
            <a:ext cx="1100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23232"/>
                </a:solidFill>
                <a:latin typeface="Aptos Display"/>
              </a:rPr>
              <a:t>Challenges, Edge Cases &amp;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E6E6E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07353"/>
            <a:ext cx="3584448" cy="2615184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17665"/>
            <a:ext cx="73152" cy="2194560"/>
          </a:xfrm>
          <a:prstGeom prst="rect">
            <a:avLst/>
          </a:prstGeom>
          <a:solidFill>
            <a:srgbClr val="F7941D"/>
          </a:solidFill>
          <a:ln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708521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74281"/>
            <a:ext cx="2944368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• Starvation: nearest-first choices can leave a far request waiting indefinitely</a:t>
            </a:r>
            <a:endParaRPr lang="en-US" sz="1030" dirty="0"/>
          </a:p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• Rescue liveness: new arrivals on the rescue path kept extending it</a:t>
            </a:r>
            <a:endParaRPr lang="en-US" sz="1030" dirty="0"/>
          </a:p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• Overload: 64 requests at once, room for only 32</a:t>
            </a:r>
            <a:endParaRPr lang="en-US" sz="1030" dirty="0"/>
          </a:p>
          <a:p>
            <a:pPr algn="l"/>
            <a:endParaRPr lang="en-US" sz="1030" dirty="0"/>
          </a:p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Correctness (bounded waiting) and performance (waits, memory). Occurs in the starvation guard and the request queue.</a:t>
            </a:r>
            <a:endParaRPr lang="en-US" sz="1030" dirty="0"/>
          </a:p>
        </p:txBody>
      </p:sp>
      <p:sp>
        <p:nvSpPr>
          <p:cNvPr id="12" name="Rounded Rectangle 11"/>
          <p:cNvSpPr/>
          <p:nvPr/>
        </p:nvSpPr>
        <p:spPr>
          <a:xfrm>
            <a:off x="4325112" y="1507353"/>
            <a:ext cx="3584448" cy="2615184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717665"/>
            <a:ext cx="73152" cy="2194560"/>
          </a:xfrm>
          <a:prstGeom prst="rect">
            <a:avLst/>
          </a:prstGeom>
          <a:solidFill>
            <a:srgbClr val="F7941D"/>
          </a:solidFill>
          <a:ln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4024" y="1708521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EDGE / FAILURE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074281"/>
            <a:ext cx="2944368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Venue challenges C2 and C4: one request waits at cylinder 4900 while new requests keep arriving near the head (1100) and along the path.</a:t>
            </a:r>
            <a:endParaRPr lang="en-US" sz="1030" dirty="0"/>
          </a:p>
          <a:p>
            <a:pPr algn="l"/>
            <a:endParaRPr lang="en-US" sz="1030" dirty="0"/>
          </a:p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Our first rescue served every request on its way, so arrivals stretched it to 21 dispatches and the far request waited 130 ms, no better than SSTF.</a:t>
            </a:r>
            <a:endParaRPr lang="en-US" sz="1030" dirty="0"/>
          </a:p>
        </p:txBody>
      </p:sp>
      <p:sp>
        <p:nvSpPr>
          <p:cNvPr id="16" name="Rounded Rectangle 15"/>
          <p:cNvSpPr/>
          <p:nvPr/>
        </p:nvSpPr>
        <p:spPr>
          <a:xfrm>
            <a:off x="8119872" y="1507353"/>
            <a:ext cx="3584448" cy="2615184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717665"/>
            <a:ext cx="73152" cy="2194560"/>
          </a:xfrm>
          <a:prstGeom prst="rect">
            <a:avLst/>
          </a:prstGeom>
          <a:solidFill>
            <a:srgbClr val="F7941D"/>
          </a:solidFill>
          <a:ln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1708521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MITIGATION /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074281"/>
            <a:ext cx="2944368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dirty="0">
                <a:solidFill>
                  <a:srgbClr val="6E6E6E"/>
                </a:solidFill>
                <a:latin typeface="Aptos"/>
              </a:rPr>
              <a:t>Frozen rescue batch (the F-SCAN idea): when a rescue starts, only requests already on its path may go first; new arrivals wait.</a:t>
            </a:r>
            <a:endParaRPr lang="en-US" sz="1030" dirty="0"/>
          </a:p>
          <a:p>
            <a:pPr algn="l"/>
            <a:endParaRPr lang="en-US" sz="1030" dirty="0"/>
          </a:p>
          <a:p>
            <a:pPr algn="l"/>
            <a:r>
              <a:rPr sz="1030" dirty="0">
                <a:solidFill>
                  <a:srgbClr val="6E6E6E"/>
                </a:solidFill>
                <a:latin typeface="Aptos"/>
              </a:rPr>
              <a:t>The rescue now ends in 2 dispatches and the far request is served at 88 ms. OS mechanism: aging with bounded waiting.</a:t>
            </a:r>
            <a:endParaRPr lang="en-US" sz="1030" dirty="0"/>
          </a:p>
        </p:txBody>
      </p:sp>
      <p:sp>
        <p:nvSpPr>
          <p:cNvPr id="20" name="Rounded Rectangle 19"/>
          <p:cNvSpPr/>
          <p:nvPr/>
        </p:nvSpPr>
        <p:spPr>
          <a:xfrm>
            <a:off x="530352" y="4323704"/>
            <a:ext cx="5486400" cy="1900077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534016"/>
            <a:ext cx="73152" cy="1479453"/>
          </a:xfrm>
          <a:prstGeom prst="rect">
            <a:avLst/>
          </a:prstGeom>
          <a:solidFill>
            <a:srgbClr val="FDC44E"/>
          </a:solidFill>
          <a:ln>
            <a:solidFill>
              <a:srgbClr val="FDC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" y="452487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TRADE-OFFS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890632"/>
            <a:ext cx="48463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Improves worst-case wait: 54% lower than SSTF under starvation stress. Costs some average wait: 37% higher than SSTF there, still 21% better than LOOK.</a:t>
            </a:r>
            <a:endParaRPr lang="en-US" sz="1030" dirty="0"/>
          </a:p>
          <a:p>
            <a:pPr algn="l"/>
            <a:endParaRPr lang="en-US" sz="1030" dirty="0"/>
          </a:p>
          <a:p>
            <a:pPr algn="l"/>
            <a:r>
              <a:rPr sz="1030">
                <a:solidFill>
                  <a:srgbClr val="6E6E6E"/>
                </a:solidFill>
                <a:latin typeface="Aptos"/>
              </a:rPr>
              <a:t>Fairness vs throughput is set by one parameter, the rescue factor (4 x typical wait by default).</a:t>
            </a:r>
            <a:endParaRPr lang="en-US" sz="1030" dirty="0"/>
          </a:p>
        </p:txBody>
      </p:sp>
      <p:sp>
        <p:nvSpPr>
          <p:cNvPr id="24" name="Rounded Rectangle 23"/>
          <p:cNvSpPr/>
          <p:nvPr/>
        </p:nvSpPr>
        <p:spPr>
          <a:xfrm>
            <a:off x="6236208" y="4323704"/>
            <a:ext cx="5468112" cy="1900077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37376" y="4534016"/>
            <a:ext cx="73152" cy="1479453"/>
          </a:xfrm>
          <a:prstGeom prst="rect">
            <a:avLst/>
          </a:prstGeom>
          <a:solidFill>
            <a:srgbClr val="FDC44E"/>
          </a:solidFill>
          <a:ln>
            <a:solidFill>
              <a:srgbClr val="FDC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524872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LIVE CONSTRAINT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90632"/>
            <a:ext cx="482803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1">
                <a:solidFill>
                  <a:srgbClr val="323232"/>
                </a:solidFill>
                <a:latin typeface="Aptos"/>
              </a:rPr>
              <a:t xml:space="preserve">C3 queue cap 32: </a:t>
            </a:r>
            <a:r>
              <a:rPr sz="1030">
                <a:solidFill>
                  <a:srgbClr val="6E6E6E"/>
                </a:solidFill>
                <a:latin typeface="Aptos"/>
              </a:rPr>
              <a:t>added admission control (defer or reject) with exact accounting: submitted = served + rejected.</a:t>
            </a:r>
            <a:endParaRPr lang="en-US" sz="1030" dirty="0"/>
          </a:p>
          <a:p>
            <a:pPr algn="l"/>
            <a:r>
              <a:rPr sz="1030" b="1">
                <a:solidFill>
                  <a:srgbClr val="323232"/>
                </a:solidFill>
                <a:latin typeface="Aptos"/>
              </a:rPr>
              <a:t xml:space="preserve">C5 deadlines: </a:t>
            </a:r>
            <a:r>
              <a:rPr sz="1030">
                <a:solidFill>
                  <a:srgbClr val="6E6E6E"/>
                </a:solidFill>
                <a:latin typeface="Aptos"/>
              </a:rPr>
              <a:t>a request jumps the queue only if it would otherwise be late; at most 3 jumps in a row while another request starves.</a:t>
            </a:r>
            <a:endParaRPr lang="en-US" sz="1030" dirty="0"/>
          </a:p>
          <a:p>
            <a:pPr algn="l"/>
            <a:r>
              <a:rPr sz="1030" b="1">
                <a:solidFill>
                  <a:srgbClr val="323232"/>
                </a:solidFill>
                <a:latin typeface="Aptos"/>
              </a:rPr>
              <a:t xml:space="preserve">Revised assumption: </a:t>
            </a:r>
            <a:r>
              <a:rPr sz="1030">
                <a:solidFill>
                  <a:srgbClr val="6E6E6E"/>
                </a:solidFill>
                <a:latin typeface="Aptos"/>
              </a:rPr>
              <a:t>a rescue that serves everything on its path is not bounded.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7941D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802324"/>
            <a:ext cx="110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323232"/>
                </a:solidFill>
                <a:latin typeface="Aptos Display"/>
              </a:rPr>
              <a:t>Prototyp</a:t>
            </a:r>
            <a:r>
              <a:rPr lang="en-IN" sz="2800" b="1" dirty="0">
                <a:solidFill>
                  <a:srgbClr val="323232"/>
                </a:solidFill>
                <a:latin typeface="Aptos Display"/>
              </a:rPr>
              <a:t>e</a:t>
            </a:r>
            <a:r>
              <a:rPr sz="2800" b="1" dirty="0">
                <a:solidFill>
                  <a:srgbClr val="323232"/>
                </a:solidFill>
                <a:latin typeface="Aptos Display"/>
              </a:rPr>
              <a:t> &amp;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E6E6E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49089"/>
            <a:ext cx="6200000" cy="295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01600" rIns="152400" bIns="101600" rtlCol="0" anchor="ctr"/>
          <a:lstStyle/>
          <a:p>
            <a:pPr algn="l"/>
            <a:endParaRPr lang="en-US" sz="1300" dirty="0"/>
          </a:p>
        </p:txBody>
      </p:sp>
      <p:sp>
        <p:nvSpPr>
          <p:cNvPr id="9" name="Rounded Rectangle 8"/>
          <p:cNvSpPr/>
          <p:nvPr/>
        </p:nvSpPr>
        <p:spPr>
          <a:xfrm>
            <a:off x="6950000" y="1349088"/>
            <a:ext cx="4750000" cy="2863559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51168" y="1559400"/>
            <a:ext cx="73152" cy="2373689"/>
          </a:xfrm>
          <a:prstGeom prst="rect">
            <a:avLst/>
          </a:prstGeom>
          <a:solidFill>
            <a:srgbClr val="F7941D"/>
          </a:solidFill>
          <a:ln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8912" y="1550257"/>
            <a:ext cx="4109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WHAT WAS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912" y="1916017"/>
            <a:ext cx="4109920" cy="2176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Seven schedulers: FCFS, SSTF, SCAN, C-SCAN, LOOK, C-LOOK, Adaptive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Adaptive modes: SSTF, LOOK, cluster-SSTF, rescue sweep, deadline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Starvation guard with frozen rescue batch (aging, bounded waiting)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Queue cap with defer / reject admission control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Live two-drive disk simulation, step view, event trace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C++ engine for the benchmark; both engines agree on 4,200 test runs</a:t>
            </a:r>
            <a:endParaRPr lang="en-US" sz="1000" dirty="0"/>
          </a:p>
          <a:p>
            <a:pPr algn="l"/>
            <a:r>
              <a:rPr sz="1000">
                <a:solidFill>
                  <a:srgbClr val="6E6E6E"/>
                </a:solidFill>
                <a:latin typeface="Aptos"/>
              </a:rPr>
              <a:t>• Conceptual only: running inside a real OS kernel</a:t>
            </a:r>
            <a:endParaRPr lang="en-US"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530352" y="4511736"/>
            <a:ext cx="5486400" cy="145000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722048"/>
            <a:ext cx="73152" cy="1029376"/>
          </a:xfrm>
          <a:prstGeom prst="rect">
            <a:avLst/>
          </a:prstGeom>
          <a:solidFill>
            <a:srgbClr val="FDC44E"/>
          </a:solidFill>
          <a:ln>
            <a:solidFill>
              <a:srgbClr val="FDC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471290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DEMO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5078664"/>
            <a:ext cx="48463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323232"/>
                </a:solidFill>
                <a:latin typeface="Aptos"/>
              </a:rPr>
              <a:t xml:space="preserve">NORMAL CASE: </a:t>
            </a:r>
            <a:r>
              <a:rPr sz="1019">
                <a:solidFill>
                  <a:srgbClr val="6E6E6E"/>
                </a:solidFill>
                <a:latin typeface="Aptos"/>
              </a:rPr>
              <a:t>mixed workload on two drives, FCFS vs Adaptive: head movement, waiting time and live decisions.</a:t>
            </a:r>
            <a:endParaRPr lang="en-US" sz="1019" dirty="0"/>
          </a:p>
          <a:p>
            <a:pPr algn="l"/>
            <a:r>
              <a:rPr sz="1019" b="1">
                <a:solidFill>
                  <a:srgbClr val="323232"/>
                </a:solidFill>
                <a:latin typeface="Aptos"/>
              </a:rPr>
              <a:t xml:space="preserve">EDGE / FAILURE CASE: </a:t>
            </a:r>
            <a:r>
              <a:rPr sz="1019">
                <a:solidFill>
                  <a:srgbClr val="6E6E6E"/>
                </a:solidFill>
                <a:latin typeface="Aptos"/>
              </a:rPr>
              <a:t>SSTF starving a far request while Adaptive rescues it; venue challenges C1 to C5 as one-click presets with traces.</a:t>
            </a:r>
            <a:endParaRPr lang="en-US" sz="1019" dirty="0"/>
          </a:p>
        </p:txBody>
      </p:sp>
      <p:sp>
        <p:nvSpPr>
          <p:cNvPr id="21" name="Rounded Rectangle 20"/>
          <p:cNvSpPr/>
          <p:nvPr/>
        </p:nvSpPr>
        <p:spPr>
          <a:xfrm>
            <a:off x="6236208" y="4511736"/>
            <a:ext cx="5468112" cy="145000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37376" y="4722048"/>
            <a:ext cx="73152" cy="1029376"/>
          </a:xfrm>
          <a:prstGeom prst="rect">
            <a:avLst/>
          </a:prstGeom>
          <a:solidFill>
            <a:srgbClr val="FDC44E"/>
          </a:solidFill>
          <a:ln>
            <a:solidFill>
              <a:srgbClr val="FDC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4712904"/>
            <a:ext cx="48280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1">
                <a:solidFill>
                  <a:srgbClr val="323232"/>
                </a:solidFill>
                <a:latin typeface="Aptos"/>
              </a:rPr>
              <a:t>CHANGES &amp; 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78664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323232"/>
                </a:solidFill>
                <a:latin typeface="Aptos"/>
              </a:rPr>
              <a:t xml:space="preserve">Changed: </a:t>
            </a:r>
            <a:r>
              <a:rPr sz="1019">
                <a:solidFill>
                  <a:srgbClr val="6E6E6E"/>
                </a:solidFill>
                <a:latin typeface="Aptos"/>
              </a:rPr>
              <a:t>frozen rescue batch, queue cap, deadline override, separate C-SCAN direction, event trace.</a:t>
            </a:r>
            <a:endParaRPr lang="en-US" sz="1019" dirty="0"/>
          </a:p>
          <a:p>
            <a:pPr algn="l"/>
            <a:r>
              <a:rPr sz="1019" b="1">
                <a:solidFill>
                  <a:srgbClr val="323232"/>
                </a:solidFill>
                <a:latin typeface="Aptos"/>
              </a:rPr>
              <a:t xml:space="preserve">Future: </a:t>
            </a:r>
            <a:r>
              <a:rPr sz="1019">
                <a:solidFill>
                  <a:srgbClr val="6E6E6E"/>
                </a:solidFill>
                <a:latin typeface="Aptos"/>
              </a:rPr>
              <a:t>replay real disk traces, self-tuning thresholds, port to a Linux blk-mq I/O scheduler.</a:t>
            </a:r>
            <a:endParaRPr lang="en-US" sz="1019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66068A-3AE5-549D-9982-C4248020F22C}"/>
              </a:ext>
            </a:extLst>
          </p:cNvPr>
          <p:cNvSpPr txBox="1"/>
          <p:nvPr/>
        </p:nvSpPr>
        <p:spPr>
          <a:xfrm>
            <a:off x="530352" y="6016752"/>
            <a:ext cx="883626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 err="1" b="1">
                <a:solidFill>
                  <a:srgbClr val="323232"/>
                </a:solidFill>
                <a:latin typeface="Aptos Display" pitchFamily="34" charset="0"/>
              </a:rPr>
              <a:t xml:space="preserve">Github Repository Link: </a:t>
            </a:r>
            <a:r>
              <a:rPr lang="en-US" sz="1200" dirty="0" err="1">
                <a:solidFill>
                  <a:srgbClr val="323232"/>
                </a:solidFill>
                <a:latin typeface="Aptos Display" pitchFamily="34" charset="0"/>
              </a:rPr>
              <a:t>github.com/asleshita/Adaptive-Disk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 err="1" b="1">
                <a:solidFill>
                  <a:srgbClr val="323232"/>
                </a:solidFill>
                <a:latin typeface="Aptos Display" pitchFamily="34" charset="0"/>
              </a:rPr>
              <a:t xml:space="preserve">Live demo: </a:t>
            </a:r>
            <a:r>
              <a:rPr lang="en-US" sz="1200" dirty="0" err="1">
                <a:solidFill>
                  <a:srgbClr val="323232"/>
                </a:solidFill>
                <a:latin typeface="Aptos Display" pitchFamily="34" charset="0"/>
              </a:rPr>
              <a:t>asleshita.github.io/Adaptive-Disk</a:t>
            </a:r>
            <a:endParaRPr lang="en-US" sz="1200" dirty="0"/>
          </a:p>
        </p:txBody>
      </p:sp>
      <p:pic>
        <p:nvPicPr>
          <p:cNvPr id="552" name="Prototype screenshot" descr="Disk simulation: FCFS and Adaptive drives serving the same requests"/>
          <p:cNvPicPr>
            <a:picLocks noChangeAspect="1"/>
          </p:cNvPicPr>
          <p:nvPr/>
        </p:nvPicPr>
        <p:blipFill>
          <a:blip r:embed="rIdPic1"/>
          <a:stretch>
            <a:fillRect/>
          </a:stretch>
        </p:blipFill>
        <p:spPr>
          <a:xfrm>
            <a:off x="694944" y="1543461"/>
            <a:ext cx="5870448" cy="257321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660</Words>
  <Application>Microsoft Office PowerPoint</Application>
  <PresentationFormat>Widescreen</PresentationFormat>
  <Paragraphs>115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Operating Systems Class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Ops: An Operating System Hackathon</dc:title>
  <dc:subject>Kernel Ops - Online Submission Template</dc:subject>
  <dc:creator>OpenAI</dc:creator>
  <cp:lastModifiedBy>Roshwin Niketh M</cp:lastModifiedBy>
  <cp:revision>20</cp:revision>
  <dcterms:created xsi:type="dcterms:W3CDTF">2026-09-22T12:30:42Z</dcterms:created>
  <dcterms:modified xsi:type="dcterms:W3CDTF">2026-09-22T12:57:16Z</dcterms:modified>
</cp:coreProperties>
</file>